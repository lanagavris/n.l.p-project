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4" r:id="rId9"/>
    <p:sldId id="262" r:id="rId10"/>
    <p:sldId id="266" r:id="rId11"/>
    <p:sldId id="268" r:id="rId12"/>
    <p:sldId id="263" r:id="rId13"/>
    <p:sldId id="265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Montserrat" panose="020B0604020202020204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  <p:bold r:id="rId29"/>
      <p:italic r:id="rId30"/>
      <p:boldItalic r:id="rId31"/>
    </p:embeddedFont>
    <p:embeddedFont>
      <p:font typeface="Calibri Light" panose="020F0302020204030204" pitchFamily="34" charset="0"/>
      <p:regular r:id="rId32"/>
      <p:italic r:id="rId33"/>
    </p:embeddedFont>
    <p:embeddedFont>
      <p:font typeface="DM Sans SemiBold" panose="020B0604020202020204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637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485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648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8720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302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6616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1144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4928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9685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6215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4775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1482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462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85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576DF-7FE9-4EDD-819B-C38C06BFBF2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9C154-37A5-47B6-8B9A-3CDC939A2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2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r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lab.research.google.com/drive/1xyw8vGf_PB0DQ5j8IXSiqptJnXfi5j1o#scrollTo=7yWUKf-cnWIe&amp;fullscreenOutput=tru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Contradiction-Aware Legal Graph RAG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Adversarial Claim Detection &amp; Graph-Enhanced Retrieval for Balanced Legal Reasoning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Svetlana </a:t>
            </a:r>
            <a:r>
              <a:rPr lang="en-US" sz="1100" i="1" dirty="0" err="1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Gavris</a:t>
            </a:r>
            <a:endParaRPr lang="en-US" sz="1100" i="1" dirty="0" smtClean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 err="1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Vlada</a:t>
            </a:r>
            <a:r>
              <a:rPr lang="en-US" sz="1100" i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100" i="1" dirty="0" err="1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Savitski</a:t>
            </a:r>
            <a:r>
              <a:rPr lang="en-US" sz="1100" i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100" i="1" dirty="0" smtClean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924"/>
            <a:ext cx="3433616" cy="5150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497979"/>
            <a:ext cx="772046" cy="223317"/>
          </a:xfrm>
          <a:prstGeom prst="roundRect">
            <a:avLst>
              <a:gd name="adj" fmla="val 666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535186"/>
            <a:ext cx="108041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764679"/>
            <a:ext cx="65894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Legal RAG Is Fundamentally Difficult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132" y="1486123"/>
            <a:ext cx="5273278" cy="29881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4740" y="1423467"/>
            <a:ext cx="31236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Legal Cases Are Structured Conflict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4740" y="1725811"/>
            <a:ext cx="2699817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Legal documents encode adversarial debate — prosecution claims, defense arguments, majority rulings, and dissenting opinions. Standard vector RAG retrieves by semantic similarity alone, merging conflicting arguments and amplifying majority narratives.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14740" y="3150096"/>
            <a:ext cx="2699817" cy="1373386"/>
          </a:xfrm>
          <a:prstGeom prst="roundRect">
            <a:avLst>
              <a:gd name="adj" fmla="val 1355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714" y="3334643"/>
            <a:ext cx="155004" cy="1239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7692" y="3278684"/>
            <a:ext cx="217289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Insight:</a:t>
            </a:r>
            <a:r>
              <a:rPr 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Legal documents are not independent texts — they represent structured adversarial debates. Retrieval must model disagreement explicitly, not implicitly.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4725"/>
            <a:ext cx="1394371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17215"/>
            <a:ext cx="168146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 QUESTION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9783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We're Asking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08720" y="1753419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 contradiction-aware graph-based retrieval improve argument balance, factual faithfulness, and completeness of legal reasoning — compared to standard semantic RAG?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366516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508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Detect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814786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adversarial legal claims automatically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366516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2508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Construct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4601" y="2814786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a legal knowledge graph with contradiction edges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551932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936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Retrieve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400020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Surface both supporting and opposing arguments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551932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36936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400020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Produce balanced, grounded legal answers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532507" cy="187672"/>
          </a:xfrm>
          <a:prstGeom prst="roundRect">
            <a:avLst>
              <a:gd name="adj" fmla="val 6940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2322"/>
            <a:ext cx="859482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NOVELTY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388880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Makes This Different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336" y="1759669"/>
            <a:ext cx="3612207" cy="76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Legal RAG systems treat documents independently and rely on semantic similarity. This project introduces </a:t>
            </a: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contradiction-aware retrieval via graph reasoning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using contradiction detection not as a classification task, but as a retrieval mechanism for balanced legal reasoning.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7336" y="3002831"/>
            <a:ext cx="3612207" cy="663625"/>
          </a:xfrm>
          <a:prstGeom prst="roundRect">
            <a:avLst>
              <a:gd name="adj" fmla="val 2453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831" y="3157761"/>
            <a:ext cx="135657" cy="108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984" y="3104704"/>
            <a:ext cx="315106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Contribution:</a:t>
            </a: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Contradiction detection is used not as classification, but as a retrieval mechanism for balanced legal reasoning.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1948" y="550664"/>
            <a:ext cx="4042445" cy="4042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912" y="353764"/>
            <a:ext cx="818406" cy="192658"/>
          </a:xfrm>
          <a:prstGeom prst="roundRect">
            <a:avLst>
              <a:gd name="adj" fmla="val 68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817364" y="386953"/>
            <a:ext cx="114270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50912" y="581025"/>
            <a:ext cx="671668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Contradiction-Aware Legal Graph RAG Pipeline</a:t>
            </a:r>
            <a:endParaRPr lang="en-US" sz="2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912" y="1056903"/>
            <a:ext cx="7642101" cy="3300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74532" y="3292242"/>
            <a:ext cx="1134705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Contradiction Check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74532" y="3764357"/>
            <a:ext cx="1134705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BERT detects contradicting text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8163" y="3145051"/>
            <a:ext cx="1134706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Graph Retrieval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8163" y="3617166"/>
            <a:ext cx="1134706" cy="44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Retrieve connected legal paths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1332" y="1354758"/>
            <a:ext cx="1134705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Claim Extraction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1332" y="1826873"/>
            <a:ext cx="1134705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claims and parties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98077" y="1354758"/>
            <a:ext cx="1134706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LLM Answering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98077" y="1826873"/>
            <a:ext cx="1134706" cy="44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answers guided by graph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49430" y="1354758"/>
            <a:ext cx="1134705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49430" y="1826873"/>
            <a:ext cx="1134705" cy="44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KG with CONTRADICTS/SUPPORTS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0912" y="4455170"/>
            <a:ext cx="7642101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does not retrieve isolated chunks — it retrieves </a:t>
            </a: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connected legal reasoning paths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Graph edges include: </a:t>
            </a: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CONTRADICTS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SUPPORTS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HAS_EVIDENCE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RESOLVED_BY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850" dirty="0"/>
          </a:p>
        </p:txBody>
      </p:sp>
      <p:grpSp>
        <p:nvGrpSpPr>
          <p:cNvPr id="21" name="קבוצה 20"/>
          <p:cNvGrpSpPr/>
          <p:nvPr/>
        </p:nvGrpSpPr>
        <p:grpSpPr>
          <a:xfrm>
            <a:off x="435532" y="2868207"/>
            <a:ext cx="1371600" cy="1148210"/>
            <a:chOff x="344242" y="2910530"/>
            <a:chExt cx="1371600" cy="1316235"/>
          </a:xfrm>
        </p:grpSpPr>
        <p:pic>
          <p:nvPicPr>
            <p:cNvPr id="17" name="Google Shape;255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4242" y="2910530"/>
              <a:ext cx="1371600" cy="131623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</p:pic>
        <p:sp>
          <p:nvSpPr>
            <p:cNvPr id="19" name="Google Shape;272;p19"/>
            <p:cNvSpPr txBox="1"/>
            <p:nvPr/>
          </p:nvSpPr>
          <p:spPr>
            <a:xfrm>
              <a:off x="449200" y="3120080"/>
              <a:ext cx="11001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0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Raw Legal Text</a:t>
              </a:r>
              <a:endParaRPr dirty="0"/>
            </a:p>
          </p:txBody>
        </p:sp>
        <p:sp>
          <p:nvSpPr>
            <p:cNvPr id="20" name="Google Shape;273;p19"/>
            <p:cNvSpPr txBox="1"/>
            <p:nvPr/>
          </p:nvSpPr>
          <p:spPr>
            <a:xfrm>
              <a:off x="475394" y="3520130"/>
              <a:ext cx="1047750" cy="544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5" b="0" i="0" u="none" strike="noStrike" cap="none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Court transcripts, filings, and decisions (Real/Synthetic)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85688"/>
            <a:ext cx="1335807" cy="212824"/>
          </a:xfrm>
          <a:prstGeom prst="roundRect">
            <a:avLst>
              <a:gd name="adj" fmla="val 674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16954" y="421556"/>
            <a:ext cx="164953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ML PROBLEM DEFINITION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38845"/>
            <a:ext cx="405653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End-to-End System Task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19" y="1469827"/>
            <a:ext cx="5262563" cy="29820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4396" y="1264890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4396" y="1552649"/>
            <a:ext cx="2698998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Legal case documents (court opinions, claims, evidence) + a user legal question.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Example: "Did the defendant knowingly misuse customer funds?"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04396" y="244978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04396" y="2737545"/>
            <a:ext cx="2698998" cy="1022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Prosecution Position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Defense Counter-Argument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Detected Contradictions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Court Resolution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Knowledge Graph Representation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04396" y="3873922"/>
            <a:ext cx="2698998" cy="770334"/>
          </a:xfrm>
          <a:prstGeom prst="roundRect">
            <a:avLst>
              <a:gd name="adj" fmla="val 2329"/>
            </a:avLst>
          </a:prstGeom>
          <a:solidFill>
            <a:srgbClr val="BEF3E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3980" y="4047232"/>
            <a:ext cx="149498" cy="1195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93061" y="3994547"/>
            <a:ext cx="219075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Goal: Generate balanced, factually grounded legal reasoning that represents all sides of a dispute.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91182"/>
            <a:ext cx="4090368" cy="2436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381" y="386816"/>
            <a:ext cx="671668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 smtClean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 </a:t>
            </a:r>
            <a:r>
              <a:rPr lang="en-US" sz="2150" dirty="0" err="1" smtClean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exemple</a:t>
            </a:r>
            <a:endParaRPr lang="en-US" sz="2150" dirty="0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732" y="932287"/>
            <a:ext cx="4316964" cy="2553862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415318" y="3910964"/>
            <a:ext cx="8526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https://colab.research.google.com/drive/1xyw8vGf_PB0DQ5j8IXSiqptJnXfi5j1o#scrollTo=7yWUKf-cnWIe&amp;fullscreenOutput=true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942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281"/>
            <a:ext cx="1311994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9771"/>
            <a:ext cx="159908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&amp;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0387"/>
            <a:ext cx="74476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Construction &amp; Evaluation Setup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277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903" y="1951954"/>
            <a:ext cx="3978159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train and evaluate the system, we initially experimented with fully synthetic legal text generation. However, the fully synthetic data was kept at a small scale because we found that real-world, historically documented court opinions provided a significantly better, more coherent, and realistic rhetorical structure.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3869" y="3465016"/>
            <a:ext cx="25474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Synthetic Augmentation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3869" y="382823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Synthetic data augments contradiction pairs and increases coverage of rare legal patterns. Final evaluation uses </a:t>
            </a: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100 manually verified legal claim pairs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(gold dataset).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82823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15" name="תמונה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17" y="2065574"/>
            <a:ext cx="3820439" cy="17037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0030" y="203618"/>
            <a:ext cx="853380" cy="187672"/>
          </a:xfrm>
          <a:prstGeom prst="roundRect">
            <a:avLst>
              <a:gd name="adj" fmla="val 6940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365142" y="236137"/>
            <a:ext cx="1180356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ML COMPONENT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00030" y="424479"/>
            <a:ext cx="6556325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Contradiction Detection with Fine-Tuned BERT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08526" y="1345727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Subtask Definition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8526" y="1598288"/>
            <a:ext cx="3612207" cy="61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Input: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Claim A + Claim B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Output: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Contradiction / Non-Contradiction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bert-base-uncased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fine-tuned on legal claim pairs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1938" y="3292171"/>
            <a:ext cx="3612207" cy="1237881"/>
          </a:xfrm>
          <a:prstGeom prst="roundRect">
            <a:avLst>
              <a:gd name="adj" fmla="val 1970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27" y="3394044"/>
            <a:ext cx="252793" cy="2200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4586" y="3394044"/>
            <a:ext cx="3151063" cy="932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model generates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CONTRADICTS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edges in the knowledge graph. Without it, the graph cannot represent adversarial structure — it is a graph construction mechanism, not an isolated classifier.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376" y="917845"/>
            <a:ext cx="3612207" cy="36122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9848" y="587081"/>
            <a:ext cx="4099886" cy="1689608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343" y="643288"/>
            <a:ext cx="3818150" cy="1687486"/>
          </a:xfrm>
          <a:prstGeom prst="rect">
            <a:avLst/>
          </a:prstGeom>
        </p:spPr>
      </p:pic>
      <p:sp>
        <p:nvSpPr>
          <p:cNvPr id="6" name="מלבן 5"/>
          <p:cNvSpPr/>
          <p:nvPr/>
        </p:nvSpPr>
        <p:spPr>
          <a:xfrm>
            <a:off x="620821" y="101920"/>
            <a:ext cx="3467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Mona Sans VF"/>
              </a:rPr>
              <a:t>1.structural test set quantifies</a:t>
            </a:r>
            <a:endParaRPr lang="en-US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701969" y="2513888"/>
            <a:ext cx="33053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Mona Sans VF"/>
              </a:rPr>
              <a:t>2.human gold quantifies</a:t>
            </a:r>
            <a:endParaRPr lang="en-US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pic>
        <p:nvPicPr>
          <p:cNvPr id="18" name="תמונה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701" y="3212921"/>
            <a:ext cx="4139033" cy="1705741"/>
          </a:xfrm>
          <a:prstGeom prst="rect">
            <a:avLst/>
          </a:prstGeom>
        </p:spPr>
      </p:pic>
      <p:pic>
        <p:nvPicPr>
          <p:cNvPr id="19" name="תמונה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18" y="3066334"/>
            <a:ext cx="3937922" cy="174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9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4875" y="1588591"/>
            <a:ext cx="3857625" cy="3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50594"/>
            <a:ext cx="800100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 txBox="1"/>
          <p:nvPr/>
        </p:nvSpPr>
        <p:spPr>
          <a:xfrm>
            <a:off x="571501" y="4864894"/>
            <a:ext cx="1964531" cy="9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19">
                <a:solidFill>
                  <a:srgbClr val="5C677D"/>
                </a:solidFill>
                <a:latin typeface="Inter Medium"/>
                <a:ea typeface="Inter Medium"/>
                <a:cs typeface="Inter Medium"/>
                <a:sym typeface="Inter Medium"/>
              </a:rPr>
              <a:t>CONTRADICTION-AWARE LEGAL GRAPH RAG</a:t>
            </a:r>
            <a:endParaRPr sz="1350"/>
          </a:p>
        </p:txBody>
      </p:sp>
      <p:sp>
        <p:nvSpPr>
          <p:cNvPr id="336" name="Google Shape;336;p21"/>
          <p:cNvSpPr txBox="1"/>
          <p:nvPr/>
        </p:nvSpPr>
        <p:spPr>
          <a:xfrm>
            <a:off x="7958137" y="4864894"/>
            <a:ext cx="614363" cy="9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19">
                <a:solidFill>
                  <a:srgbClr val="5C677D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 OF 12</a:t>
            </a:r>
            <a:endParaRPr sz="1350"/>
          </a:p>
        </p:txBody>
      </p:sp>
      <p:sp>
        <p:nvSpPr>
          <p:cNvPr id="337" name="Google Shape;337;p21"/>
          <p:cNvSpPr txBox="1"/>
          <p:nvPr/>
        </p:nvSpPr>
        <p:spPr>
          <a:xfrm>
            <a:off x="571500" y="907257"/>
            <a:ext cx="38576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900">
                <a:solidFill>
                  <a:srgbClr val="0B13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A. Classification Task (BERT vs. Rules):</a:t>
            </a:r>
            <a:endParaRPr sz="1350"/>
          </a:p>
        </p:txBody>
      </p:sp>
      <p:sp>
        <p:nvSpPr>
          <p:cNvPr id="338" name="Google Shape;338;p21"/>
          <p:cNvSpPr txBox="1"/>
          <p:nvPr/>
        </p:nvSpPr>
        <p:spPr>
          <a:xfrm>
            <a:off x="571500" y="1197248"/>
            <a:ext cx="3857625" cy="38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measure classification on the Gold Test Set using standard metrics: Accuracy, Precision, Recall, and F1-Score.</a:t>
            </a:r>
            <a:endParaRPr sz="1350"/>
          </a:p>
        </p:txBody>
      </p:sp>
      <p:sp>
        <p:nvSpPr>
          <p:cNvPr id="339" name="Google Shape;339;p21"/>
          <p:cNvSpPr txBox="1"/>
          <p:nvPr/>
        </p:nvSpPr>
        <p:spPr>
          <a:xfrm>
            <a:off x="571500" y="1695748"/>
            <a:ext cx="38576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900">
                <a:solidFill>
                  <a:srgbClr val="0B13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B. RAG Performance Metrics (Ragas Framework):</a:t>
            </a:r>
            <a:endParaRPr sz="1350"/>
          </a:p>
        </p:txBody>
      </p:sp>
      <p:sp>
        <p:nvSpPr>
          <p:cNvPr id="340" name="Google Shape;340;p21"/>
          <p:cNvSpPr txBox="1"/>
          <p:nvPr/>
        </p:nvSpPr>
        <p:spPr>
          <a:xfrm>
            <a:off x="4714875" y="831020"/>
            <a:ext cx="38576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050" dirty="0">
                <a:solidFill>
                  <a:srgbClr val="0B13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C. Uncertainty-Aware Citation Scoring</a:t>
            </a:r>
            <a:r>
              <a:rPr lang="en-US" sz="900" dirty="0">
                <a:solidFill>
                  <a:srgbClr val="0B13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endParaRPr sz="1350" dirty="0"/>
          </a:p>
        </p:txBody>
      </p:sp>
      <p:sp>
        <p:nvSpPr>
          <p:cNvPr id="341" name="Google Shape;341;p21"/>
          <p:cNvSpPr txBox="1"/>
          <p:nvPr/>
        </p:nvSpPr>
        <p:spPr>
          <a:xfrm>
            <a:off x="4714875" y="1149035"/>
            <a:ext cx="3857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 sz="9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define a topological scoring model to compute the confidence score of retrieved claim node </a:t>
            </a:r>
            <a:r>
              <a:rPr lang="en-US" sz="900" b="1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900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given a query </a:t>
            </a:r>
            <a:r>
              <a:rPr lang="en-US" sz="900" b="1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lang="en-US" sz="900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600" dirty="0"/>
          </a:p>
        </p:txBody>
      </p:sp>
      <p:sp>
        <p:nvSpPr>
          <p:cNvPr id="342" name="Google Shape;342;p21"/>
          <p:cNvSpPr txBox="1"/>
          <p:nvPr/>
        </p:nvSpPr>
        <p:spPr>
          <a:xfrm>
            <a:off x="771525" y="1985739"/>
            <a:ext cx="3657600" cy="4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81"/>
              </a:lnSpc>
            </a:pPr>
            <a:r>
              <a:rPr lang="en-US" sz="815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Faithfulness:</a:t>
            </a:r>
            <a:r>
              <a:rPr lang="en-US" sz="81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Measures if the generated answer is strictly grounded in the retrieved legal context.</a:t>
            </a:r>
            <a:endParaRPr sz="1350" dirty="0"/>
          </a:p>
        </p:txBody>
      </p:sp>
      <p:sp>
        <p:nvSpPr>
          <p:cNvPr id="343" name="Google Shape;343;p21"/>
          <p:cNvSpPr txBox="1"/>
          <p:nvPr/>
        </p:nvSpPr>
        <p:spPr>
          <a:xfrm>
            <a:off x="771525" y="2402756"/>
            <a:ext cx="3657600" cy="4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81"/>
              </a:lnSpc>
            </a:pPr>
            <a:r>
              <a:rPr lang="en-US" sz="815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Completeness:</a:t>
            </a:r>
            <a:r>
              <a:rPr lang="en-US" sz="81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Evaluates if the answer covers all required prosecution/defense arguments.</a:t>
            </a:r>
            <a:endParaRPr sz="1350"/>
          </a:p>
        </p:txBody>
      </p:sp>
      <p:sp>
        <p:nvSpPr>
          <p:cNvPr id="344" name="Google Shape;344;p21"/>
          <p:cNvSpPr txBox="1"/>
          <p:nvPr/>
        </p:nvSpPr>
        <p:spPr>
          <a:xfrm>
            <a:off x="771525" y="2819772"/>
            <a:ext cx="3657600" cy="60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81"/>
              </a:lnSpc>
            </a:pPr>
            <a:r>
              <a:rPr lang="en-US" sz="815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Side Coverage (Dialectical Balance):</a:t>
            </a:r>
            <a:r>
              <a:rPr lang="en-US" sz="81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Measures if both sides of the legal dispute are represented in the answer. Range: 1.0 (single-sided) to 3.0 (balanced + resolution).</a:t>
            </a:r>
            <a:endParaRPr sz="1350" dirty="0"/>
          </a:p>
        </p:txBody>
      </p:sp>
      <p:pic>
        <p:nvPicPr>
          <p:cNvPr id="345" name="Google Shape;34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0212" y="1695747"/>
            <a:ext cx="3502558" cy="179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 txBox="1"/>
          <p:nvPr/>
        </p:nvSpPr>
        <p:spPr>
          <a:xfrm>
            <a:off x="571500" y="431456"/>
            <a:ext cx="8401050" cy="294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913" b="1" dirty="0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EVALUATION </a:t>
            </a:r>
            <a:r>
              <a:rPr lang="en-US" sz="1913" b="1" dirty="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METRICS &amp; MATH</a:t>
            </a:r>
            <a:endParaRPr sz="1350" dirty="0">
              <a:solidFill>
                <a:schemeClr val="accent6"/>
              </a:solidFill>
            </a:endParaRPr>
          </a:p>
        </p:txBody>
      </p:sp>
      <p:pic>
        <p:nvPicPr>
          <p:cNvPr id="349" name="Google Shape;34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00027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17043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34060"/>
            <a:ext cx="114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קבוצה 1"/>
          <p:cNvGrpSpPr/>
          <p:nvPr/>
        </p:nvGrpSpPr>
        <p:grpSpPr>
          <a:xfrm>
            <a:off x="4658722" y="2245172"/>
            <a:ext cx="4313828" cy="1811580"/>
            <a:chOff x="4658585" y="2152443"/>
            <a:chExt cx="3913916" cy="1398988"/>
          </a:xfrm>
        </p:grpSpPr>
        <p:pic>
          <p:nvPicPr>
            <p:cNvPr id="332" name="Google Shape;332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58585" y="2152443"/>
              <a:ext cx="3913916" cy="13989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1"/>
            <p:cNvSpPr txBox="1"/>
            <p:nvPr/>
          </p:nvSpPr>
          <p:spPr>
            <a:xfrm>
              <a:off x="5043487" y="2305540"/>
              <a:ext cx="3517940" cy="12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050" b="1" dirty="0">
                  <a:solidFill>
                    <a:srgbClr val="0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Parameter Tuning</a:t>
              </a:r>
              <a:endParaRPr sz="2000" dirty="0"/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4893469" y="2467942"/>
              <a:ext cx="3500438" cy="9982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Where 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_{</a:t>
              </a:r>
              <a:r>
                <a:rPr lang="en-US" sz="1200" dirty="0" err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deg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}</a:t>
              </a:r>
              <a:r>
                <a:rPr lang="ru-RU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 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is degree centrality (citation authority), 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d(</a:t>
              </a:r>
              <a:r>
                <a:rPr lang="en-US" sz="1200" dirty="0" err="1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q,n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 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is shortest path distance in the graph from query entry, and </a:t>
              </a:r>
              <a:r>
                <a:rPr lang="en-US" sz="1200" dirty="0" err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recency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determined by the decision date. Weights </a:t>
              </a:r>
              <a:r>
                <a:rPr lang="en-US" sz="1200" dirty="0" smtClean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alpha, beta, gamma 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are optimized via </a:t>
              </a:r>
              <a:r>
                <a:rPr lang="en-US" sz="1200" dirty="0" err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hyperparameter</a:t>
              </a:r>
              <a:r>
                <a:rPr lang="en-US" sz="12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search.</a:t>
              </a:r>
              <a:endParaRPr sz="2800" dirty="0"/>
            </a:p>
          </p:txBody>
        </p:sp>
        <p:pic>
          <p:nvPicPr>
            <p:cNvPr id="352" name="Google Shape;352;p21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893469" y="2317923"/>
              <a:ext cx="78581" cy="10001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5087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360" y="235781"/>
            <a:ext cx="669429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439415" y="278272"/>
            <a:ext cx="9565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54360" y="55888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Full Graph RAG Achieves Best Overall Performance</a:t>
            </a:r>
            <a:endParaRPr lang="en-US" sz="2750" dirty="0"/>
          </a:p>
        </p:txBody>
      </p:sp>
      <p:sp>
        <p:nvSpPr>
          <p:cNvPr id="11" name="Shape 9"/>
          <p:cNvSpPr/>
          <p:nvPr/>
        </p:nvSpPr>
        <p:spPr>
          <a:xfrm>
            <a:off x="439415" y="4066264"/>
            <a:ext cx="8151763" cy="793849"/>
          </a:xfrm>
          <a:prstGeom prst="roundRect">
            <a:avLst>
              <a:gd name="adj" fmla="val 2679"/>
            </a:avLst>
          </a:prstGeom>
          <a:solidFill>
            <a:srgbClr val="B6FCB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173" y="4267033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00112" y="4229231"/>
            <a:ext cx="7549307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Finding: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Removing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CONTRADICTS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edges causes the </a:t>
            </a:r>
            <a:r>
              <a:rPr lang="en-US" sz="11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largest performance drop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all metrics. The contradiction graph is not cosmetic — it is the core mechanism enabling balanced legal reasoning.</a:t>
            </a:r>
            <a:endParaRPr lang="en-US" sz="1100" dirty="0"/>
          </a:p>
        </p:txBody>
      </p:sp>
      <p:pic>
        <p:nvPicPr>
          <p:cNvPr id="14" name="תמונה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74" y="1458148"/>
            <a:ext cx="7094128" cy="2638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2952" y="225212"/>
            <a:ext cx="1006897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288007" y="267702"/>
            <a:ext cx="129398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CONCLUSIONS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88007" y="767920"/>
            <a:ext cx="51074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Contributions &amp; Takeaways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67382" y="14469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We Built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2952" y="190446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Contradiction-aware legal Graph RAG system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Fine-tuned BERT for legal contradiction detection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Legal knowledge graph from model outputs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Ablation study + error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1066" y="3528536"/>
            <a:ext cx="29652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Answer to Research Question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1066" y="389175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Yes.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Contradiction-aware graph retrieval improves argument balance, contradiction coverage, factual grounding, and completeness of legal reasoning.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8658" y="1"/>
            <a:ext cx="345534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816</Words>
  <Application>Microsoft Office PowerPoint</Application>
  <PresentationFormat>‫הצגה על המסך (16:9)</PresentationFormat>
  <Paragraphs>103</Paragraphs>
  <Slides>13</Slides>
  <Notes>11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5" baseType="lpstr">
      <vt:lpstr>Calibri</vt:lpstr>
      <vt:lpstr>Inter Medium</vt:lpstr>
      <vt:lpstr>Montserrat</vt:lpstr>
      <vt:lpstr>Arial</vt:lpstr>
      <vt:lpstr>Inter SemiBold</vt:lpstr>
      <vt:lpstr>Times New Roman</vt:lpstr>
      <vt:lpstr>Mona Sans VF</vt:lpstr>
      <vt:lpstr>Inter</vt:lpstr>
      <vt:lpstr>Calibri Light</vt:lpstr>
      <vt:lpstr>DM Sans SemiBold</vt:lpstr>
      <vt:lpstr>Consolas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subject/>
  <dc:creator>pc</dc:creator>
  <cp:lastModifiedBy>pc</cp:lastModifiedBy>
  <cp:revision>25</cp:revision>
  <dcterms:created xsi:type="dcterms:W3CDTF">2026-06-09T10:11:08Z</dcterms:created>
  <dcterms:modified xsi:type="dcterms:W3CDTF">2026-06-10T17:59:38Z</dcterms:modified>
</cp:coreProperties>
</file>
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9" r:id="rId1"/>
  </p:sldMasterIdLst>
  <p:notesMasterIdLst>
    <p:notesMasterId r:id="rId14"/>
  </p:notesMasterIdLst>
  <p:sldIdLst>
    <p:sldId id="256" r:id="rId2"/>
    <p:sldId id="265" r:id="rId3"/>
    <p:sldId id="277" r:id="rId4"/>
    <p:sldId id="269" r:id="rId5"/>
    <p:sldId id="274" r:id="rId6"/>
    <p:sldId id="259" r:id="rId7"/>
    <p:sldId id="264" r:id="rId8"/>
    <p:sldId id="273" r:id="rId9"/>
    <p:sldId id="271" r:id="rId10"/>
    <p:sldId id="275" r:id="rId11"/>
    <p:sldId id="276" r:id="rId12"/>
    <p:sldId id="272" r:id="rId13"/>
  </p:sldIdLst>
  <p:sldSz cx="14630400" cy="8229600"/>
  <p:notesSz cx="8229600" cy="14630400"/>
  <p:embeddedFontLst>
    <p:embeddedFont>
      <p:font typeface="Gelasio" panose="020B0604020202020204" charset="0"/>
      <p:regular r:id="rId15"/>
    </p:embeddedFont>
    <p:embeddedFont>
      <p:font typeface="Platypi Medium" panose="020B0604020202020204" charset="0"/>
      <p:regular r:id="rId16"/>
    </p:embeddedFont>
    <p:embeddedFont>
      <p:font typeface="Source Serif 4" panose="020B0604020202020204" charset="0"/>
      <p:regular r:id="rId17"/>
    </p:embeddedFont>
    <p:embeddedFont>
      <p:font typeface="Gelasio Semi Bold" panose="020B0604020202020204" charset="0"/>
      <p:regular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304B9-9920-6B4A-A6C1-C29B6DA8185B}" type="datetimeFigureOut">
              <a:rPr lang="en-IL" smtClean="0"/>
              <a:t>05/06/2026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D7C02-6AF4-4543-9501-81483E0545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4364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75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16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4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64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95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5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82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11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06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0662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6209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4150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7326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0685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4256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500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9848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3453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2150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754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679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446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702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18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593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811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541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871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67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ru-RU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ru-RU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7D164-3F8B-4FDA-BDAC-18A9848EAF5D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CB24D-1677-4934-86AF-2408190D6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76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</p:sldLayoutIdLst>
  <p:hf sldNum="0" hdr="0" ftr="0" dt="0"/>
  <p:txStyles>
    <p:titleStyle>
      <a:lvl1pPr algn="r" defTabSz="1097280" rtl="1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r" defTabSz="1097280" rtl="1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Graph-Based RAG for Legal Case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Structured Information Extraction and Reasoning over Court Decisions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1" y="1247419"/>
            <a:ext cx="61124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 Complexity Crisis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80191" y="2296359"/>
            <a:ext cx="3664744" cy="2773798"/>
          </a:xfrm>
          <a:prstGeom prst="roundRect">
            <a:avLst>
              <a:gd name="adj" fmla="val 122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3" y="2523173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 smtClean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 Stakes</a:t>
            </a:r>
            <a:endParaRPr lang="en-US" sz="2160" dirty="0"/>
          </a:p>
        </p:txBody>
      </p:sp>
      <p:sp>
        <p:nvSpPr>
          <p:cNvPr id="6" name="Text 3"/>
          <p:cNvSpPr/>
          <p:nvPr/>
        </p:nvSpPr>
        <p:spPr>
          <a:xfrm>
            <a:off x="6507004" y="3028830"/>
            <a:ext cx="32111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a single cross-reference can lose a case. Legal accuracy is not aspirational — it is the baseline.</a:t>
            </a:r>
            <a:endParaRPr lang="en-US" sz="1760" dirty="0"/>
          </a:p>
        </p:txBody>
      </p:sp>
      <p:sp>
        <p:nvSpPr>
          <p:cNvPr id="7" name="Shape 4"/>
          <p:cNvSpPr/>
          <p:nvPr/>
        </p:nvSpPr>
        <p:spPr>
          <a:xfrm>
            <a:off x="10171748" y="2296359"/>
            <a:ext cx="3664862" cy="2773798"/>
          </a:xfrm>
          <a:prstGeom prst="roundRect">
            <a:avLst>
              <a:gd name="adj" fmla="val 1227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523173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 smtClean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Scalability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10398562" y="3028830"/>
            <a:ext cx="3211235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volumes have outpaced human-only research. Attorneys cannot manually trace citations across millions of documents.</a:t>
            </a:r>
            <a:endParaRPr lang="en-US" sz="1760" dirty="0"/>
          </a:p>
        </p:txBody>
      </p:sp>
      <p:sp>
        <p:nvSpPr>
          <p:cNvPr id="10" name="Shape 7"/>
          <p:cNvSpPr/>
          <p:nvPr/>
        </p:nvSpPr>
        <p:spPr>
          <a:xfrm>
            <a:off x="6280191" y="5296971"/>
            <a:ext cx="7556421" cy="1685091"/>
          </a:xfrm>
          <a:prstGeom prst="roundRect">
            <a:avLst>
              <a:gd name="adj" fmla="val 2019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3" y="5523786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🎯</a:t>
            </a: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Precision</a:t>
            </a:r>
            <a:endParaRPr lang="en-US" sz="2160" dirty="0"/>
          </a:p>
        </p:txBody>
      </p:sp>
      <p:sp>
        <p:nvSpPr>
          <p:cNvPr id="12" name="Text 9"/>
          <p:cNvSpPr/>
          <p:nvPr/>
        </p:nvSpPr>
        <p:spPr>
          <a:xfrm>
            <a:off x="6507004" y="6029445"/>
            <a:ext cx="71027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Verbatim citations are non-negotiable. Approximate or hallucinated references carry serious legal and professional risk.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49482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3011"/>
            <a:ext cx="95827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Why Standard RAG Is Not Enough</a:t>
            </a:r>
            <a:endParaRPr lang="en-US" sz="4400" dirty="0"/>
          </a:p>
        </p:txBody>
      </p:sp>
      <p:grpSp>
        <p:nvGrpSpPr>
          <p:cNvPr id="23" name="קבוצה 22"/>
          <p:cNvGrpSpPr/>
          <p:nvPr/>
        </p:nvGrpSpPr>
        <p:grpSpPr>
          <a:xfrm>
            <a:off x="763311" y="2527102"/>
            <a:ext cx="3719155" cy="2175867"/>
            <a:chOff x="477069" y="1579438"/>
            <a:chExt cx="2324472" cy="1359917"/>
          </a:xfrm>
        </p:grpSpPr>
        <p:sp>
          <p:nvSpPr>
            <p:cNvPr id="3" name="Shape 1"/>
            <p:cNvSpPr/>
            <p:nvPr/>
          </p:nvSpPr>
          <p:spPr>
            <a:xfrm>
              <a:off x="496119" y="1579438"/>
              <a:ext cx="2305422" cy="1359917"/>
            </a:xfrm>
            <a:prstGeom prst="roundRect">
              <a:avLst>
                <a:gd name="adj" fmla="val 6724"/>
              </a:avLst>
            </a:prstGeom>
            <a:solidFill>
              <a:srgbClr val="F9F6F0"/>
            </a:solidFill>
            <a:ln w="19050">
              <a:solidFill>
                <a:srgbClr val="D4CEC3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477069" y="1579438"/>
              <a:ext cx="76200" cy="1359917"/>
            </a:xfrm>
            <a:prstGeom prst="roundRect">
              <a:avLst>
                <a:gd name="adj" fmla="val 27907"/>
              </a:avLst>
            </a:prstGeom>
            <a:solidFill>
              <a:srgbClr val="D3C5B6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714077" y="1740247"/>
              <a:ext cx="1926654" cy="4429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720"/>
                </a:lnSpc>
              </a:pPr>
              <a:r>
                <a:rPr lang="en-US" sz="216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Semantic Similarity Only</a:t>
              </a:r>
              <a:endParaRPr lang="en-US" sz="216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14077" y="2324919"/>
              <a:ext cx="1926654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US" sz="176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Retrieval is based on semantic similarity, not legal structure</a:t>
              </a:r>
              <a:endParaRPr lang="en-US" sz="1760" dirty="0"/>
            </a:p>
          </p:txBody>
        </p:sp>
      </p:grpSp>
      <p:sp>
        <p:nvSpPr>
          <p:cNvPr id="7" name="Shape 5"/>
          <p:cNvSpPr/>
          <p:nvPr/>
        </p:nvSpPr>
        <p:spPr>
          <a:xfrm>
            <a:off x="4709278" y="2527102"/>
            <a:ext cx="3688794" cy="2175867"/>
          </a:xfrm>
          <a:prstGeom prst="roundRect">
            <a:avLst>
              <a:gd name="adj" fmla="val 6724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grpSp>
        <p:nvGrpSpPr>
          <p:cNvPr id="24" name="קבוצה 23"/>
          <p:cNvGrpSpPr/>
          <p:nvPr/>
        </p:nvGrpSpPr>
        <p:grpSpPr>
          <a:xfrm>
            <a:off x="4678798" y="2527102"/>
            <a:ext cx="3461981" cy="2175867"/>
            <a:chOff x="2924249" y="1579438"/>
            <a:chExt cx="2163738" cy="1359917"/>
          </a:xfrm>
        </p:grpSpPr>
        <p:sp>
          <p:nvSpPr>
            <p:cNvPr id="8" name="Shape 6"/>
            <p:cNvSpPr/>
            <p:nvPr/>
          </p:nvSpPr>
          <p:spPr>
            <a:xfrm>
              <a:off x="2924249" y="1579438"/>
              <a:ext cx="76200" cy="1359917"/>
            </a:xfrm>
            <a:prstGeom prst="roundRect">
              <a:avLst>
                <a:gd name="adj" fmla="val 27907"/>
              </a:avLst>
            </a:prstGeom>
            <a:solidFill>
              <a:srgbClr val="D3C5B6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161258" y="1740247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20"/>
                </a:lnSpc>
              </a:pPr>
              <a:r>
                <a:rPr lang="en-US" sz="216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Isolated Chunks</a:t>
              </a:r>
              <a:endParaRPr lang="en-US" sz="216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161258" y="2103462"/>
              <a:ext cx="1926729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US" sz="176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Documents are treated as independent chunks</a:t>
              </a:r>
              <a:endParaRPr lang="en-US" sz="176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4709278" y="4929783"/>
            <a:ext cx="3688794" cy="1821538"/>
          </a:xfrm>
          <a:prstGeom prst="roundRect">
            <a:avLst>
              <a:gd name="adj" fmla="val 8032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grpSp>
        <p:nvGrpSpPr>
          <p:cNvPr id="26" name="קבוצה 25"/>
          <p:cNvGrpSpPr/>
          <p:nvPr/>
        </p:nvGrpSpPr>
        <p:grpSpPr>
          <a:xfrm>
            <a:off x="763310" y="4929783"/>
            <a:ext cx="7377469" cy="1821538"/>
            <a:chOff x="477069" y="3081114"/>
            <a:chExt cx="4610918" cy="1138461"/>
          </a:xfrm>
        </p:grpSpPr>
        <p:grpSp>
          <p:nvGrpSpPr>
            <p:cNvPr id="25" name="קבוצה 24"/>
            <p:cNvGrpSpPr/>
            <p:nvPr/>
          </p:nvGrpSpPr>
          <p:grpSpPr>
            <a:xfrm>
              <a:off x="477069" y="3081114"/>
              <a:ext cx="2324472" cy="1138461"/>
              <a:chOff x="477069" y="3081114"/>
              <a:chExt cx="2324472" cy="1138461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496119" y="3081114"/>
                <a:ext cx="2305422" cy="1138461"/>
              </a:xfrm>
              <a:prstGeom prst="roundRect">
                <a:avLst>
                  <a:gd name="adj" fmla="val 8032"/>
                </a:avLst>
              </a:prstGeom>
              <a:solidFill>
                <a:srgbClr val="F9F6F0"/>
              </a:solidFill>
              <a:ln w="19050">
                <a:solidFill>
                  <a:srgbClr val="D4CEC3"/>
                </a:solidFill>
                <a:prstDash val="solid"/>
              </a:ln>
            </p:spPr>
          </p:sp>
          <p:sp>
            <p:nvSpPr>
              <p:cNvPr id="12" name="Shape 10"/>
              <p:cNvSpPr/>
              <p:nvPr/>
            </p:nvSpPr>
            <p:spPr>
              <a:xfrm>
                <a:off x="477069" y="3081114"/>
                <a:ext cx="76200" cy="1138461"/>
              </a:xfrm>
              <a:prstGeom prst="roundRect">
                <a:avLst>
                  <a:gd name="adj" fmla="val 27907"/>
                </a:avLst>
              </a:prstGeom>
              <a:solidFill>
                <a:srgbClr val="D3C5B6"/>
              </a:solidFill>
              <a:ln/>
            </p:spPr>
          </p:sp>
          <p:sp>
            <p:nvSpPr>
              <p:cNvPr id="13" name="Text 11"/>
              <p:cNvSpPr/>
              <p:nvPr/>
            </p:nvSpPr>
            <p:spPr>
              <a:xfrm>
                <a:off x="714077" y="3241923"/>
                <a:ext cx="1889447" cy="22145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720"/>
                  </a:lnSpc>
                </a:pPr>
                <a:r>
                  <a:rPr lang="en-US" sz="216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Multi-Hop Limitation</a:t>
                </a:r>
                <a:endParaRPr lang="en-US" sz="216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714077" y="3605138"/>
                <a:ext cx="1926654" cy="4536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2800"/>
                  </a:lnSpc>
                </a:pPr>
                <a:r>
                  <a:rPr lang="en-US" sz="176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Limited support for multi-hop reasoning across cases</a:t>
                </a:r>
                <a:endParaRPr lang="en-US" sz="1760" dirty="0"/>
              </a:p>
            </p:txBody>
          </p:sp>
        </p:grpSp>
        <p:sp>
          <p:nvSpPr>
            <p:cNvPr id="16" name="Shape 14"/>
            <p:cNvSpPr/>
            <p:nvPr/>
          </p:nvSpPr>
          <p:spPr>
            <a:xfrm>
              <a:off x="2924249" y="3081114"/>
              <a:ext cx="76200" cy="1138461"/>
            </a:xfrm>
            <a:prstGeom prst="roundRect">
              <a:avLst>
                <a:gd name="adj" fmla="val 27907"/>
              </a:avLst>
            </a:prstGeom>
            <a:solidFill>
              <a:srgbClr val="D3C5B6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3161258" y="3241923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20"/>
                </a:lnSpc>
              </a:pPr>
              <a:r>
                <a:rPr lang="en-US" sz="216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Citation Risk</a:t>
              </a:r>
              <a:endParaRPr lang="en-US" sz="216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161258" y="3605138"/>
              <a:ext cx="1926729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US" sz="176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High risk of incorrect or incomplete citations</a:t>
              </a:r>
              <a:endParaRPr lang="en-US" sz="1760" dirty="0"/>
            </a:p>
          </p:txBody>
        </p:sp>
      </p:grpSp>
      <p:grpSp>
        <p:nvGrpSpPr>
          <p:cNvPr id="22" name="קבוצה 21"/>
          <p:cNvGrpSpPr/>
          <p:nvPr/>
        </p:nvGrpSpPr>
        <p:grpSpPr>
          <a:xfrm>
            <a:off x="726265" y="7008615"/>
            <a:ext cx="9385937" cy="993697"/>
            <a:chOff x="8766336" y="2271951"/>
            <a:chExt cx="5120282" cy="1985724"/>
          </a:xfrm>
        </p:grpSpPr>
        <p:sp>
          <p:nvSpPr>
            <p:cNvPr id="19" name="Shape 17"/>
            <p:cNvSpPr/>
            <p:nvPr/>
          </p:nvSpPr>
          <p:spPr>
            <a:xfrm>
              <a:off x="8766336" y="2271951"/>
              <a:ext cx="5120282" cy="1985724"/>
            </a:xfrm>
            <a:prstGeom prst="roundRect">
              <a:avLst>
                <a:gd name="adj" fmla="val 719"/>
              </a:avLst>
            </a:prstGeom>
            <a:solidFill>
              <a:srgbClr val="D3C5B6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9022557" y="249876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20"/>
                </a:lnSpc>
              </a:pPr>
              <a:r>
                <a:rPr lang="en-US" sz="2160" dirty="0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The Gap</a:t>
              </a:r>
              <a:endParaRPr lang="en-US" sz="216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9022558" y="3079909"/>
              <a:ext cx="4758094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US" sz="1760" dirty="0">
                  <a:solidFill>
                    <a:srgbClr val="000000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Legal reasoning requires structured relationships, not just similar text</a:t>
              </a:r>
              <a:endParaRPr lang="en-US" sz="1760" dirty="0"/>
            </a:p>
          </p:txBody>
        </p:sp>
      </p:grpSp>
      <p:pic>
        <p:nvPicPr>
          <p:cNvPr id="27" name="תמונה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955" y="3028346"/>
            <a:ext cx="4883319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4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1528" y="490420"/>
            <a:ext cx="7068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Knowledge graphs</a:t>
            </a:r>
            <a:endParaRPr lang="en-US" sz="4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3454241"/>
            <a:ext cx="7721559" cy="4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By modeling legal data as a graph, we preserve the topology of law.</a:t>
            </a:r>
          </a:p>
        </p:txBody>
      </p:sp>
      <p:sp>
        <p:nvSpPr>
          <p:cNvPr id="9" name="Text 5"/>
          <p:cNvSpPr/>
          <p:nvPr/>
        </p:nvSpPr>
        <p:spPr>
          <a:xfrm>
            <a:off x="781528" y="4131585"/>
            <a:ext cx="7721559" cy="47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Each node represents a legal concept, and each edge is a defined </a:t>
            </a:r>
            <a:endParaRPr lang="en-US" dirty="0" smtClean="0">
              <a:solidFill>
                <a:srgbClr val="504C49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>
              <a:lnSpc>
                <a:spcPts val="2300"/>
              </a:lnSpc>
            </a:pPr>
            <a:r>
              <a:rPr lang="en-US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legal </a:t>
            </a:r>
            <a:r>
              <a:rPr lang="en-US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relationship.</a:t>
            </a:r>
          </a:p>
          <a:p>
            <a:pPr>
              <a:lnSpc>
                <a:spcPts val="2300"/>
              </a:lnSpc>
            </a:pPr>
            <a:endParaRPr lang="en-US" dirty="0">
              <a:solidFill>
                <a:srgbClr val="504C49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93790" y="5083610"/>
            <a:ext cx="7631549" cy="99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This allows the LLM to "walk" the graph to find evidence</a:t>
            </a:r>
            <a:r>
              <a:rPr lang="en-US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,</a:t>
            </a:r>
          </a:p>
          <a:p>
            <a:pPr>
              <a:lnSpc>
                <a:spcPts val="2300"/>
              </a:lnSpc>
            </a:pPr>
            <a:r>
              <a:rPr lang="en-US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r>
              <a:rPr lang="en-US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ensuring every claim is grounded in a specific node with </a:t>
            </a:r>
            <a:endParaRPr lang="en-US" dirty="0" smtClean="0">
              <a:solidFill>
                <a:srgbClr val="504C49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>
              <a:lnSpc>
                <a:spcPts val="2300"/>
              </a:lnSpc>
            </a:pPr>
            <a:r>
              <a:rPr lang="en-US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 </a:t>
            </a:r>
            <a:r>
              <a:rPr lang="en-US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verifiable metadata source.</a:t>
            </a:r>
          </a:p>
        </p:txBody>
      </p:sp>
    </p:spTree>
    <p:extLst>
      <p:ext uri="{BB962C8B-B14F-4D97-AF65-F5344CB8AC3E}">
        <p14:creationId xmlns:p14="http://schemas.microsoft.com/office/powerpoint/2010/main" val="176036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02655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Legal Question Answering with Grounded Evidence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289774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60" dirty="0"/>
          </a:p>
        </p:txBody>
      </p:sp>
      <p:sp>
        <p:nvSpPr>
          <p:cNvPr id="4" name="Shape 2"/>
          <p:cNvSpPr/>
          <p:nvPr/>
        </p:nvSpPr>
        <p:spPr>
          <a:xfrm>
            <a:off x="793791" y="3252787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1" y="3427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Input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793791" y="391751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Legal question and corpus of legal documents (graph-structured)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5216962" y="289774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60" dirty="0"/>
          </a:p>
        </p:txBody>
      </p:sp>
      <p:sp>
        <p:nvSpPr>
          <p:cNvPr id="8" name="Shape 6"/>
          <p:cNvSpPr/>
          <p:nvPr/>
        </p:nvSpPr>
        <p:spPr>
          <a:xfrm>
            <a:off x="5216962" y="3252787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427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Processing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5216962" y="3917514"/>
            <a:ext cx="4196358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 traversal and multi-hop reasoning</a:t>
            </a:r>
            <a:endParaRPr lang="en-US" sz="1760" dirty="0"/>
          </a:p>
        </p:txBody>
      </p:sp>
      <p:sp>
        <p:nvSpPr>
          <p:cNvPr id="11" name="Text 9"/>
          <p:cNvSpPr/>
          <p:nvPr/>
        </p:nvSpPr>
        <p:spPr>
          <a:xfrm>
            <a:off x="9640133" y="289774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9640133" y="3252787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427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Output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9640133" y="391751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Natural language answer with supporting evidence</a:t>
            </a:r>
            <a:endParaRPr lang="en-US" sz="1760" dirty="0"/>
          </a:p>
        </p:txBody>
      </p:sp>
      <p:sp>
        <p:nvSpPr>
          <p:cNvPr id="15" name="Text 13"/>
          <p:cNvSpPr/>
          <p:nvPr/>
        </p:nvSpPr>
        <p:spPr>
          <a:xfrm>
            <a:off x="793790" y="5295304"/>
            <a:ext cx="42843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Supporting Evidence Includes: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793791" y="587644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48640" indent="-548640">
              <a:lnSpc>
                <a:spcPts val="2800"/>
              </a:lnSpc>
              <a:buSzPct val="100000"/>
              <a:buChar char="•"/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Cited cases</a:t>
            </a:r>
            <a:endParaRPr lang="en-US" sz="1760" dirty="0"/>
          </a:p>
          <a:p>
            <a:pPr marL="548640" indent="-548640">
              <a:lnSpc>
                <a:spcPts val="2800"/>
              </a:lnSpc>
              <a:buSzPct val="100000"/>
              <a:buChar char="•"/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Relevant statutes</a:t>
            </a:r>
            <a:endParaRPr lang="en-US" sz="1760" dirty="0"/>
          </a:p>
          <a:p>
            <a:pPr marL="548640" indent="-548640">
              <a:lnSpc>
                <a:spcPts val="2800"/>
              </a:lnSpc>
              <a:buSzPct val="100000"/>
              <a:buChar char="•"/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Reasoning path (subgraph)</a:t>
            </a:r>
            <a:endParaRPr lang="en-US" sz="1760" dirty="0"/>
          </a:p>
        </p:txBody>
      </p:sp>
      <p:sp>
        <p:nvSpPr>
          <p:cNvPr id="17" name="Text 15"/>
          <p:cNvSpPr/>
          <p:nvPr/>
        </p:nvSpPr>
        <p:spPr>
          <a:xfrm>
            <a:off x="7599522" y="5295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Example</a:t>
            </a:r>
            <a:endParaRPr lang="en-US" sz="2160" dirty="0"/>
          </a:p>
        </p:txBody>
      </p:sp>
      <p:sp>
        <p:nvSpPr>
          <p:cNvPr id="18" name="Text 16"/>
          <p:cNvSpPr/>
          <p:nvPr/>
        </p:nvSpPr>
        <p:spPr>
          <a:xfrm>
            <a:off x="7599522" y="5876448"/>
            <a:ext cx="624470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Q:</a:t>
            </a: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Which cases citing Statute X were later overturned?</a:t>
            </a:r>
            <a:endParaRPr lang="en-US" sz="1760" dirty="0"/>
          </a:p>
        </p:txBody>
      </p:sp>
      <p:sp>
        <p:nvSpPr>
          <p:cNvPr id="19" name="Text 17"/>
          <p:cNvSpPr/>
          <p:nvPr/>
        </p:nvSpPr>
        <p:spPr>
          <a:xfrm>
            <a:off x="7599522" y="6443424"/>
            <a:ext cx="624470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A:</a:t>
            </a: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[Answer] + [List of cases] + [graph-based reasoning chain]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340169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452" y="530066"/>
            <a:ext cx="4473654" cy="559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Pipeline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215" y="1371481"/>
            <a:ext cx="11951851" cy="448484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46193" y="2513852"/>
            <a:ext cx="617357" cy="6173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96167" y="4593958"/>
            <a:ext cx="1802681" cy="694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Answer &amp; Explanation</a:t>
            </a:r>
            <a:endParaRPr lang="en-US" sz="21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286089" y="2515009"/>
            <a:ext cx="617357" cy="61735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24294" y="4593958"/>
            <a:ext cx="1802682" cy="694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Graph-Based Retrieval</a:t>
            </a:r>
            <a:endParaRPr lang="en-US" sz="21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026563" y="2515009"/>
            <a:ext cx="617357" cy="61735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64769" y="4420326"/>
            <a:ext cx="1802682" cy="104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Graph Construction</a:t>
            </a:r>
            <a:endParaRPr lang="en-US" sz="21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767038" y="2515009"/>
            <a:ext cx="617357" cy="61735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205243" y="4593958"/>
            <a:ext cx="1802682" cy="694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Information Extraction</a:t>
            </a:r>
            <a:endParaRPr lang="en-US" sz="21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2495165" y="2515009"/>
            <a:ext cx="617357" cy="61735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896330" y="4593958"/>
            <a:ext cx="1802681" cy="694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Court Decision</a:t>
            </a:r>
            <a:endParaRPr lang="en-US" sz="2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6592FD-8322-1951-FB30-C964FEFE11CA}"/>
              </a:ext>
            </a:extLst>
          </p:cNvPr>
          <p:cNvSpPr txBox="1"/>
          <p:nvPr/>
        </p:nvSpPr>
        <p:spPr>
          <a:xfrm>
            <a:off x="1640719" y="1010300"/>
            <a:ext cx="460344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 :</a:t>
            </a:r>
            <a:endParaRPr lang="en-IL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719" y="2228064"/>
            <a:ext cx="11420786" cy="533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6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855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Technology Stack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1" y="3017759"/>
            <a:ext cx="1829752" cy="113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1" y="4432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Orchestration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793791" y="4922520"/>
            <a:ext cx="4158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LlamaIndex &amp; </a:t>
            </a:r>
            <a:r>
              <a:rPr lang="en-US" sz="1760" b="1" dirty="0" err="1" smtClean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LangGraph</a:t>
            </a:r>
            <a:r>
              <a:rPr lang="en-US" sz="1760" b="1" dirty="0" smtClean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- </a:t>
            </a:r>
            <a:r>
              <a:rPr lang="en-US" sz="1760" dirty="0" smtClean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orchestration </a:t>
            </a:r>
            <a:endParaRPr lang="en-US" sz="176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4" y="3017759"/>
            <a:ext cx="1829752" cy="11308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432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Graph Store</a:t>
            </a:r>
            <a:endParaRPr lang="en-US" sz="2160" dirty="0"/>
          </a:p>
        </p:txBody>
      </p:sp>
      <p:sp>
        <p:nvSpPr>
          <p:cNvPr id="8" name="Text 4"/>
          <p:cNvSpPr/>
          <p:nvPr/>
        </p:nvSpPr>
        <p:spPr>
          <a:xfrm>
            <a:off x="5235893" y="4922520"/>
            <a:ext cx="4158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Neo4j</a:t>
            </a: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provides high-performance Cypher queries and persistent relationship storage across the full legal corpus.</a:t>
            </a:r>
            <a:endParaRPr lang="en-US" sz="176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6" y="3017759"/>
            <a:ext cx="1829752" cy="11308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432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LLM Engines</a:t>
            </a:r>
            <a:endParaRPr lang="en-US" sz="2160" dirty="0"/>
          </a:p>
        </p:txBody>
      </p:sp>
      <p:sp>
        <p:nvSpPr>
          <p:cNvPr id="11" name="Text 6"/>
          <p:cNvSpPr/>
          <p:nvPr/>
        </p:nvSpPr>
        <p:spPr>
          <a:xfrm>
            <a:off x="9677995" y="4922520"/>
            <a:ext cx="4158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GPT-4o / Claude 3.5</a:t>
            </a: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cloud reasoning and </a:t>
            </a:r>
            <a:r>
              <a:rPr lang="en-US" sz="1760" dirty="0" smtClean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generations .</a:t>
            </a:r>
          </a:p>
          <a:p>
            <a:pPr>
              <a:lnSpc>
                <a:spcPts val="2800"/>
              </a:lnSpc>
            </a:pPr>
            <a:r>
              <a:rPr lang="en-US" sz="1760" b="1" dirty="0" smtClean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Mistral</a:t>
            </a:r>
            <a:r>
              <a:rPr lang="en-US" sz="1760" dirty="0" smtClean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- local </a:t>
            </a: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processing.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83546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0119"/>
            <a:ext cx="64238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Evaluation Framework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1" y="3062527"/>
            <a:ext cx="13042821" cy="3266837"/>
          </a:xfrm>
          <a:prstGeom prst="roundRect">
            <a:avLst>
              <a:gd name="adj" fmla="val 10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70146"/>
            <a:ext cx="13027581" cy="6503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213855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Metric Type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4940380" y="3213855"/>
            <a:ext cx="866179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Definition</a:t>
            </a:r>
            <a:endParaRPr lang="en-US" sz="1760" dirty="0"/>
          </a:p>
        </p:txBody>
      </p:sp>
      <p:sp>
        <p:nvSpPr>
          <p:cNvPr id="7" name="Shape 5"/>
          <p:cNvSpPr/>
          <p:nvPr/>
        </p:nvSpPr>
        <p:spPr>
          <a:xfrm>
            <a:off x="801410" y="3720466"/>
            <a:ext cx="13027581" cy="6503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864173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Faithfulness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4940380" y="3864173"/>
            <a:ext cx="866179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 the answer derived 100% from retrieved subgraphs?</a:t>
            </a:r>
            <a:endParaRPr lang="en-US" sz="1760" dirty="0"/>
          </a:p>
        </p:txBody>
      </p:sp>
      <p:sp>
        <p:nvSpPr>
          <p:cNvPr id="10" name="Shape 8"/>
          <p:cNvSpPr/>
          <p:nvPr/>
        </p:nvSpPr>
        <p:spPr>
          <a:xfrm>
            <a:off x="801410" y="4370784"/>
            <a:ext cx="13027581" cy="6503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4514493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Answer Relevance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4940380" y="4514493"/>
            <a:ext cx="866179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Does the response directly address the legal question?</a:t>
            </a:r>
            <a:endParaRPr lang="en-US" sz="1760" dirty="0"/>
          </a:p>
        </p:txBody>
      </p:sp>
      <p:sp>
        <p:nvSpPr>
          <p:cNvPr id="13" name="Shape 11"/>
          <p:cNvSpPr/>
          <p:nvPr/>
        </p:nvSpPr>
        <p:spPr>
          <a:xfrm>
            <a:off x="801410" y="5021104"/>
            <a:ext cx="13027581" cy="6503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5164813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Citation Accuracy</a:t>
            </a:r>
            <a:endParaRPr lang="en-US" sz="1760" dirty="0"/>
          </a:p>
        </p:txBody>
      </p:sp>
      <p:sp>
        <p:nvSpPr>
          <p:cNvPr id="15" name="Text 13"/>
          <p:cNvSpPr/>
          <p:nvPr/>
        </p:nvSpPr>
        <p:spPr>
          <a:xfrm>
            <a:off x="4940380" y="5164813"/>
            <a:ext cx="866179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Are page/section citations correct and verifiable?</a:t>
            </a:r>
            <a:endParaRPr lang="en-US" sz="1760" dirty="0"/>
          </a:p>
        </p:txBody>
      </p:sp>
      <p:sp>
        <p:nvSpPr>
          <p:cNvPr id="16" name="Shape 14"/>
          <p:cNvSpPr/>
          <p:nvPr/>
        </p:nvSpPr>
        <p:spPr>
          <a:xfrm>
            <a:off x="801410" y="5671422"/>
            <a:ext cx="13027581" cy="6503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815131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Multi-hop Precision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4940380" y="5815131"/>
            <a:ext cx="866179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Ability to retrieve secondary tertiary linked cases.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284282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3043" y="607458"/>
            <a:ext cx="7034331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280"/>
              </a:lnSpc>
            </a:pPr>
            <a:r>
              <a:rPr lang="en-US" sz="424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Synthetic Data Generation</a:t>
            </a:r>
            <a:endParaRPr lang="en-US" sz="4240" dirty="0"/>
          </a:p>
        </p:txBody>
      </p:sp>
      <p:sp>
        <p:nvSpPr>
          <p:cNvPr id="4" name="Text 1"/>
          <p:cNvSpPr/>
          <p:nvPr/>
        </p:nvSpPr>
        <p:spPr>
          <a:xfrm>
            <a:off x="6243042" y="1365529"/>
            <a:ext cx="5524381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208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Challenge: Lack of Labeled Legal QA Data</a:t>
            </a:r>
            <a:endParaRPr lang="en-US" sz="2080" dirty="0"/>
          </a:p>
        </p:txBody>
      </p:sp>
      <p:sp>
        <p:nvSpPr>
          <p:cNvPr id="5" name="Shape 2"/>
          <p:cNvSpPr/>
          <p:nvPr/>
        </p:nvSpPr>
        <p:spPr>
          <a:xfrm>
            <a:off x="6243042" y="2336602"/>
            <a:ext cx="3712368" cy="2261712"/>
          </a:xfrm>
          <a:prstGeom prst="roundRect">
            <a:avLst>
              <a:gd name="adj" fmla="val 6469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43042" y="2306122"/>
            <a:ext cx="3712368" cy="121920"/>
          </a:xfrm>
          <a:prstGeom prst="roundRect">
            <a:avLst>
              <a:gd name="adj" fmla="val 26599"/>
            </a:avLst>
          </a:prstGeom>
          <a:solidFill>
            <a:srgbClr val="D3C5B6"/>
          </a:solidFill>
          <a:ln/>
        </p:spPr>
      </p:sp>
      <p:sp>
        <p:nvSpPr>
          <p:cNvPr id="7" name="Shape 4"/>
          <p:cNvSpPr/>
          <p:nvPr/>
        </p:nvSpPr>
        <p:spPr>
          <a:xfrm>
            <a:off x="7774961" y="2012394"/>
            <a:ext cx="648533" cy="648533"/>
          </a:xfrm>
          <a:prstGeom prst="roundRect">
            <a:avLst>
              <a:gd name="adj" fmla="val 140995"/>
            </a:avLst>
          </a:prstGeom>
          <a:solidFill>
            <a:srgbClr val="D3C5B6"/>
          </a:solidFill>
          <a:ln/>
        </p:spPr>
      </p:sp>
      <p:sp>
        <p:nvSpPr>
          <p:cNvPr id="8" name="Text 5"/>
          <p:cNvSpPr/>
          <p:nvPr/>
        </p:nvSpPr>
        <p:spPr>
          <a:xfrm>
            <a:off x="7969507" y="2174558"/>
            <a:ext cx="259318" cy="324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120"/>
              </a:lnSpc>
            </a:pPr>
            <a:r>
              <a:rPr lang="en-US" sz="20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89621" y="2877026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208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Source Material</a:t>
            </a:r>
            <a:endParaRPr lang="en-US" sz="2080" dirty="0"/>
          </a:p>
        </p:txBody>
      </p:sp>
      <p:sp>
        <p:nvSpPr>
          <p:cNvPr id="10" name="Text 7"/>
          <p:cNvSpPr/>
          <p:nvPr/>
        </p:nvSpPr>
        <p:spPr>
          <a:xfrm>
            <a:off x="6489622" y="3338394"/>
            <a:ext cx="3219211" cy="6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real legal documents as source</a:t>
            </a:r>
            <a:endParaRPr lang="en-US" sz="1680" dirty="0"/>
          </a:p>
        </p:txBody>
      </p:sp>
      <p:sp>
        <p:nvSpPr>
          <p:cNvPr id="11" name="Shape 8"/>
          <p:cNvSpPr/>
          <p:nvPr/>
        </p:nvSpPr>
        <p:spPr>
          <a:xfrm>
            <a:off x="10161389" y="2336602"/>
            <a:ext cx="3712368" cy="2261712"/>
          </a:xfrm>
          <a:prstGeom prst="roundRect">
            <a:avLst>
              <a:gd name="adj" fmla="val 6469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61389" y="2306122"/>
            <a:ext cx="3712368" cy="121920"/>
          </a:xfrm>
          <a:prstGeom prst="roundRect">
            <a:avLst>
              <a:gd name="adj" fmla="val 26599"/>
            </a:avLst>
          </a:prstGeom>
          <a:solidFill>
            <a:srgbClr val="D3C5B6"/>
          </a:solidFill>
          <a:ln/>
        </p:spPr>
      </p:sp>
      <p:sp>
        <p:nvSpPr>
          <p:cNvPr id="13" name="Shape 10"/>
          <p:cNvSpPr/>
          <p:nvPr/>
        </p:nvSpPr>
        <p:spPr>
          <a:xfrm>
            <a:off x="11693308" y="2012394"/>
            <a:ext cx="648533" cy="648533"/>
          </a:xfrm>
          <a:prstGeom prst="roundRect">
            <a:avLst>
              <a:gd name="adj" fmla="val 140995"/>
            </a:avLst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855" y="2174558"/>
            <a:ext cx="259318" cy="324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120"/>
              </a:lnSpc>
            </a:pPr>
            <a:r>
              <a:rPr lang="en-US" sz="20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407968" y="2877026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208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Generation</a:t>
            </a:r>
            <a:endParaRPr lang="en-US" sz="2080" dirty="0"/>
          </a:p>
        </p:txBody>
      </p:sp>
      <p:sp>
        <p:nvSpPr>
          <p:cNvPr id="16" name="Text 13"/>
          <p:cNvSpPr/>
          <p:nvPr/>
        </p:nvSpPr>
        <p:spPr>
          <a:xfrm>
            <a:off x="10407969" y="3338394"/>
            <a:ext cx="321921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Generate synthetic question–answer pairs, reasoning chains, and supporting citations</a:t>
            </a:r>
            <a:endParaRPr lang="en-US" sz="1680" dirty="0"/>
          </a:p>
        </p:txBody>
      </p:sp>
      <p:sp>
        <p:nvSpPr>
          <p:cNvPr id="17" name="Shape 14"/>
          <p:cNvSpPr/>
          <p:nvPr/>
        </p:nvSpPr>
        <p:spPr>
          <a:xfrm>
            <a:off x="6243043" y="5128498"/>
            <a:ext cx="7630715" cy="1586150"/>
          </a:xfrm>
          <a:prstGeom prst="roundRect">
            <a:avLst>
              <a:gd name="adj" fmla="val 9224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43043" y="5098018"/>
            <a:ext cx="7630715" cy="121920"/>
          </a:xfrm>
          <a:prstGeom prst="roundRect">
            <a:avLst>
              <a:gd name="adj" fmla="val 26599"/>
            </a:avLst>
          </a:prstGeom>
          <a:solidFill>
            <a:srgbClr val="D3C5B6"/>
          </a:solidFill>
          <a:ln/>
        </p:spPr>
      </p:sp>
      <p:sp>
        <p:nvSpPr>
          <p:cNvPr id="19" name="Shape 16"/>
          <p:cNvSpPr/>
          <p:nvPr/>
        </p:nvSpPr>
        <p:spPr>
          <a:xfrm>
            <a:off x="9734134" y="4804292"/>
            <a:ext cx="648533" cy="648533"/>
          </a:xfrm>
          <a:prstGeom prst="roundRect">
            <a:avLst>
              <a:gd name="adj" fmla="val 140995"/>
            </a:avLst>
          </a:prstGeom>
          <a:solidFill>
            <a:srgbClr val="D3C5B6"/>
          </a:solidFill>
          <a:ln/>
        </p:spPr>
      </p:sp>
      <p:sp>
        <p:nvSpPr>
          <p:cNvPr id="20" name="Text 17"/>
          <p:cNvSpPr/>
          <p:nvPr/>
        </p:nvSpPr>
        <p:spPr>
          <a:xfrm>
            <a:off x="9928682" y="4966455"/>
            <a:ext cx="259318" cy="324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120"/>
              </a:lnSpc>
            </a:pPr>
            <a:r>
              <a:rPr lang="en-US" sz="20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89621" y="5668924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208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Quality Control</a:t>
            </a:r>
            <a:endParaRPr lang="en-US" sz="2080" dirty="0"/>
          </a:p>
        </p:txBody>
      </p:sp>
      <p:sp>
        <p:nvSpPr>
          <p:cNvPr id="22" name="Text 19"/>
          <p:cNvSpPr/>
          <p:nvPr/>
        </p:nvSpPr>
        <p:spPr>
          <a:xfrm>
            <a:off x="6489621" y="6130290"/>
            <a:ext cx="7137558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Filter low-quality samples using LLM validation</a:t>
            </a:r>
            <a:endParaRPr lang="en-US" sz="1680" dirty="0"/>
          </a:p>
        </p:txBody>
      </p:sp>
      <p:sp>
        <p:nvSpPr>
          <p:cNvPr id="23" name="Text 20"/>
          <p:cNvSpPr/>
          <p:nvPr/>
        </p:nvSpPr>
        <p:spPr>
          <a:xfrm>
            <a:off x="6243043" y="6946465"/>
            <a:ext cx="7630715" cy="6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Controlled generation:</a:t>
            </a:r>
            <a:r>
              <a:rPr lang="en-US" sz="168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Vary question types (fact, reasoning, comparison) and enforce structured outputs (JSON format)</a:t>
            </a:r>
            <a:endParaRPr lang="en-US" sz="168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17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6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9615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Baselines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1" y="3123962"/>
            <a:ext cx="13042821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compare against:</a:t>
            </a:r>
            <a:endParaRPr lang="en-US" sz="1760" dirty="0"/>
          </a:p>
        </p:txBody>
      </p:sp>
      <p:sp>
        <p:nvSpPr>
          <p:cNvPr id="4" name="Shape 2"/>
          <p:cNvSpPr/>
          <p:nvPr/>
        </p:nvSpPr>
        <p:spPr>
          <a:xfrm>
            <a:off x="793791" y="3742017"/>
            <a:ext cx="13042821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1" y="3742017"/>
            <a:ext cx="4347566" cy="1306949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3" y="39688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1. Zero-Shot LLM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1020603" y="4459248"/>
            <a:ext cx="389393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retrieval</a:t>
            </a:r>
            <a:endParaRPr lang="en-US" sz="1760" dirty="0"/>
          </a:p>
        </p:txBody>
      </p:sp>
      <p:sp>
        <p:nvSpPr>
          <p:cNvPr id="8" name="Shape 6"/>
          <p:cNvSpPr/>
          <p:nvPr/>
        </p:nvSpPr>
        <p:spPr>
          <a:xfrm>
            <a:off x="5141358" y="3742017"/>
            <a:ext cx="4347566" cy="1306949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9" name="Shape 7"/>
          <p:cNvSpPr/>
          <p:nvPr/>
        </p:nvSpPr>
        <p:spPr>
          <a:xfrm>
            <a:off x="5141357" y="3742017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0" name="Text 8"/>
          <p:cNvSpPr/>
          <p:nvPr/>
        </p:nvSpPr>
        <p:spPr>
          <a:xfrm>
            <a:off x="5368172" y="3968829"/>
            <a:ext cx="33339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2. Standard Vector RAG</a:t>
            </a:r>
            <a:endParaRPr lang="en-US" sz="2160" dirty="0"/>
          </a:p>
        </p:txBody>
      </p:sp>
      <p:sp>
        <p:nvSpPr>
          <p:cNvPr id="11" name="Shape 9"/>
          <p:cNvSpPr/>
          <p:nvPr/>
        </p:nvSpPr>
        <p:spPr>
          <a:xfrm>
            <a:off x="9488926" y="3742017"/>
            <a:ext cx="4347566" cy="1306949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5" y="3742017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739" y="3968829"/>
            <a:ext cx="3873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3. Graph-Based RAG (Ours)</a:t>
            </a:r>
            <a:endParaRPr lang="en-US" sz="2160" dirty="0"/>
          </a:p>
        </p:txBody>
      </p:sp>
      <p:sp>
        <p:nvSpPr>
          <p:cNvPr id="14" name="Shape 12"/>
          <p:cNvSpPr/>
          <p:nvPr/>
        </p:nvSpPr>
        <p:spPr>
          <a:xfrm>
            <a:off x="793791" y="530411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3" y="5632967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907" y="5587603"/>
            <a:ext cx="12078891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Goal:</a:t>
            </a:r>
            <a:r>
              <a:rPr lang="en-US" sz="176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Measure improvement from structured retrieval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121116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1" y="25554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93791" y="360437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Graph-based RAG transforms legal case analysis by preserving structural hierarchy and enabling multi-hop reasoning over legal precedents.</a:t>
            </a:r>
            <a:endParaRPr lang="en-US" sz="1760" dirty="0"/>
          </a:p>
        </p:txBody>
      </p:sp>
      <p:sp>
        <p:nvSpPr>
          <p:cNvPr id="5" name="Text 2"/>
          <p:cNvSpPr/>
          <p:nvPr/>
        </p:nvSpPr>
        <p:spPr>
          <a:xfrm>
            <a:off x="793791" y="4585335"/>
            <a:ext cx="7556421" cy="1088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grounding every claim in verifiable node metadata, we eliminate hallucinations whilst maintaining the precision required for high-stakes litigation.</a:t>
            </a:r>
            <a:endParaRPr lang="en-US" sz="176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825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0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518</Words>
  <Application>Microsoft Office PowerPoint</Application>
  <PresentationFormat>מותאם אישית</PresentationFormat>
  <Paragraphs>103</Paragraphs>
  <Slides>12</Slides>
  <Notes>11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10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23" baseType="lpstr">
      <vt:lpstr>Gelasio</vt:lpstr>
      <vt:lpstr>Arial</vt:lpstr>
      <vt:lpstr>Platypi Medium</vt:lpstr>
      <vt:lpstr>Times New Roman</vt:lpstr>
      <vt:lpstr>Gelasio Light</vt:lpstr>
      <vt:lpstr>Source Serif 4</vt:lpstr>
      <vt:lpstr>Gelasio Semi Bold</vt:lpstr>
      <vt:lpstr>Aptos</vt:lpstr>
      <vt:lpstr>Calibri Light</vt:lpstr>
      <vt:lpstr>Calibri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</dc:creator>
  <cp:lastModifiedBy>pc</cp:lastModifiedBy>
  <cp:revision>14</cp:revision>
  <dcterms:created xsi:type="dcterms:W3CDTF">2026-04-12T19:14:21Z</dcterms:created>
  <dcterms:modified xsi:type="dcterms:W3CDTF">2026-05-06T11:18:33Z</dcterms:modified>
</cp:coreProperties>
</file>